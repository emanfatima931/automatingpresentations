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FFD88-5E72-6134-3C0B-D7D349DDA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4FABE-E72C-3739-4A95-327560935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4361C-2A52-59B7-7091-B0FF6731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E321B-69A7-1D93-8B76-8F6D0ACB0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EE809-5DC0-93F2-376C-E233C3E5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0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8104-B9F4-0BEF-3B11-A1DCBE4FF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6631-48B8-EB40-B4FD-0A5CD2122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7186D-AC9B-6A36-5FFE-992B144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69B39-7D1B-F2C1-F469-E01746FC1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4C3D2-027F-A50B-7BDA-89FD3827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DDF9-6413-83C1-4547-887861C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86B20-8FA7-1F35-4EED-9A732AD59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779BD-7445-020D-0664-DADD18C3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78E2-B131-867C-C4B2-A3823CBC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A94E1-9B5B-D9B0-0FBC-A1FDF6ED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9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8A34-0E80-629D-0384-C9BC250B4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CC252-F61D-0069-629F-CE91B3557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770E5-72BA-242F-6493-399326463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BE4E1-5E3C-16AE-646C-2418D147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43B7F-BF7C-CC2F-690B-11C6739A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A768C-9E06-5ED8-9EA8-E72C5799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3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0C5F8-325F-0CE9-8F6C-F42CA2C7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174B-BBBB-2C37-AF9B-35BBF116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CD759-BE82-4A40-F7A6-3056AD9FA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BB13C0-13CE-6FDC-A6DA-F7331C455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09B51-A24D-356D-9FB2-09DCF048D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E9D5C-EE8B-89E8-7C61-34AB832A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AC22C-791E-082D-6342-B16CA59DE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D1804-2255-7B1F-88EF-95BB8F64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3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0601-E4C5-4237-238E-7B13246B1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6D0AF-0FD2-33F7-0D25-1386960F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4CEA3-2F0E-9955-EF82-B0EB7B35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EE1A6-724F-4553-A92E-168989D1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0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BBEB4-E5FC-52F9-9E49-0A45ECBA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DC09F-EFE7-DD8E-41AF-A935DCFA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AB092-6AB3-0C40-2810-8831F5A4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4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0F8D-DBB6-2C71-73A9-0DAE43E35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16150-D443-76AD-8D70-FE289271B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D8EEA-092D-1447-D769-39849DF1A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DCBC1-AAEC-993E-3C4D-170C36CD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02DC6-1E0C-8C42-29B9-354B6C39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48E60-42DD-136C-ACF8-5BF6B458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0A94-F341-4F1E-9D6A-AB3C06EA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59DBD-CCC4-7F65-BC0A-4FA73E303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626F5-AB01-CEB3-9549-76BAF29C7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FAF28-4E62-012E-3CC1-E3498808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06D1F-FBE7-B6BC-0569-76A578A2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5C6E6-A0FC-1CE2-26E6-DD46BCA4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9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13B9-B1E9-ED86-F350-7B83C810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6B703-1DBE-E4AC-7A12-F3E68CBEB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8836E-DE71-C07A-AD7C-E21E5B112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B5890-6B4B-9DF3-B1BE-A4E1E42D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D9649-A0CE-86D7-15AC-5020AE32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5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83C9EB-0A3A-A413-AEA7-5766A90B9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F079C-38D4-6709-3D1A-183FC3DFC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43244-82B4-3A1D-CF10-9054065B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92CF2-1516-30DF-6DFA-7083D291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79CC5-82D2-B643-225F-32666DEF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50540-7626-FE28-1255-7C34C022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C7808-B2A4-B530-4563-5112C170F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C7253-C0E2-C5FB-AD1D-88FBBF610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A937F-FB95-4874-95C0-28AB525AADD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AB023-771F-DAAB-3A30-1C4F7E881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9C46-5F5E-7C72-61B6-54466CCB0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52373-7DCE-4C49-BEE5-E2BC7326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28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C253-5276-8675-0F9F-DF83566E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1857E-515A-0A1B-2500-68937A194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Intelligent Automation: Combining RPA with Generative AI and LLMs</a:t>
            </a:r>
          </a:p>
          <a:p>
            <a:r>
              <a:rPr lang="en-US"/>
              <a:t>Professional Workshop for Technology and Business Leaders</a:t>
            </a:r>
          </a:p>
          <a:p>
            <a:r>
              <a:rPr lang="en-US"/>
              <a:t>Focus: From Rule-Based Bots to Cognitive, Self-Improving Workflows</a:t>
            </a:r>
          </a:p>
          <a:p>
            <a:r>
              <a:rPr lang="en-US"/>
              <a:t>Audience: Architects, Developers, Automation CoEs, Product Owners</a:t>
            </a:r>
          </a:p>
        </p:txBody>
      </p:sp>
    </p:spTree>
    <p:extLst>
      <p:ext uri="{BB962C8B-B14F-4D97-AF65-F5344CB8AC3E}">
        <p14:creationId xmlns:p14="http://schemas.microsoft.com/office/powerpoint/2010/main" val="216481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C755-590A-74FC-B331-FA2EE6EA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B77F-E043-92DA-C005-0A6943D1F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Domain 1: Robotic Process Automation (RPA) Fundamentals</a:t>
            </a:r>
          </a:p>
          <a:p>
            <a:r>
              <a:rPr lang="en-US"/>
              <a:t>Domain 2: Generative AI and Large Language Models (LLMs)</a:t>
            </a:r>
          </a:p>
          <a:p>
            <a:r>
              <a:rPr lang="en-US"/>
              <a:t>Evolution of Intelligent Automation Architectures</a:t>
            </a:r>
          </a:p>
          <a:p>
            <a:r>
              <a:rPr lang="en-US"/>
              <a:t>Trending Tools, Platforms, and Integration Patterns</a:t>
            </a:r>
          </a:p>
          <a:p>
            <a:r>
              <a:rPr lang="en-US"/>
              <a:t>Market Demand and Skills Landscape</a:t>
            </a:r>
          </a:p>
          <a:p>
            <a:r>
              <a:rPr lang="en-US"/>
              <a:t>Case Studies: Finance, Customer Service, and Operations</a:t>
            </a:r>
          </a:p>
        </p:txBody>
      </p:sp>
    </p:spTree>
    <p:extLst>
      <p:ext uri="{BB962C8B-B14F-4D97-AF65-F5344CB8AC3E}">
        <p14:creationId xmlns:p14="http://schemas.microsoft.com/office/powerpoint/2010/main" val="72104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C42C-3148-B2D7-F4E7-C9470EA2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Domain 1: Robotic Process Automation (RPA)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5FB16-18D1-76FE-F97F-2917C879A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RPA automates repetitive, rule-based tasks by mimicking human actions on UIs and APIs</a:t>
            </a:r>
          </a:p>
          <a:p>
            <a:r>
              <a:rPr lang="en-US"/>
              <a:t>Ideal for structured data, stable processes, and high-volume back-office work</a:t>
            </a:r>
          </a:p>
          <a:p>
            <a:r>
              <a:rPr lang="en-US"/>
              <a:t>Key capabilities: screen scraping, workflow orchestration, exception handling, logging</a:t>
            </a:r>
          </a:p>
          <a:p>
            <a:r>
              <a:rPr lang="en-US"/>
              <a:t>Benefits: reduced manual effort, fewer errors, faster cycle times, better compliance</a:t>
            </a:r>
          </a:p>
          <a:p>
            <a:r>
              <a:rPr lang="en-US"/>
              <a:t>Limitations: struggles with unstructured data, ambiguity, and frequent process changes</a:t>
            </a:r>
          </a:p>
        </p:txBody>
      </p:sp>
    </p:spTree>
    <p:extLst>
      <p:ext uri="{BB962C8B-B14F-4D97-AF65-F5344CB8AC3E}">
        <p14:creationId xmlns:p14="http://schemas.microsoft.com/office/powerpoint/2010/main" val="81678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9902-D9E3-771E-2FEA-F2709FC6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Domain 2: Generative AI and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ACEE0-7421-E159-C498-EB74D811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Generative AI creates new content: text, code, images, and more from learned patterns</a:t>
            </a:r>
          </a:p>
          <a:p>
            <a:r>
              <a:rPr lang="en-US"/>
              <a:t>LLMs are foundation models trained on large text corpora to understand and generate language</a:t>
            </a:r>
          </a:p>
          <a:p>
            <a:r>
              <a:rPr lang="en-US"/>
              <a:t>Strengths: reasoning over unstructured data, summarization, classification, content drafting</a:t>
            </a:r>
          </a:p>
          <a:p>
            <a:r>
              <a:rPr lang="en-US"/>
              <a:t>Interfaces: APIs, prompt engineering, fine-tuning, and retrieval-augmented generation (RAG)</a:t>
            </a:r>
          </a:p>
          <a:p>
            <a:r>
              <a:rPr lang="en-US"/>
              <a:t>Challenges: hallucinations, data privacy, governance, and need for guardrails in production</a:t>
            </a:r>
          </a:p>
        </p:txBody>
      </p:sp>
    </p:spTree>
    <p:extLst>
      <p:ext uri="{BB962C8B-B14F-4D97-AF65-F5344CB8AC3E}">
        <p14:creationId xmlns:p14="http://schemas.microsoft.com/office/powerpoint/2010/main" val="306355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415B-EB1D-DA60-0B7F-1C19FCD9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DD1A4-B52D-B1DA-AF39-ADA8AF717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Phase 1: Scripted automation and macros for single applications</a:t>
            </a:r>
          </a:p>
          <a:p>
            <a:r>
              <a:rPr lang="en-US"/>
              <a:t>Phase 2: Enterprise RPA platforms with centralized control and governance</a:t>
            </a:r>
          </a:p>
          <a:p>
            <a:r>
              <a:rPr lang="en-US"/>
              <a:t>Phase 3: Intelligent Automation with OCR, NLP, and basic ML for decision support</a:t>
            </a:r>
          </a:p>
          <a:p>
            <a:r>
              <a:rPr lang="en-US"/>
              <a:t>Phase 4: LLM-powered digital workers that understand context and language-rich tasks</a:t>
            </a:r>
          </a:p>
          <a:p>
            <a:r>
              <a:rPr lang="en-US"/>
              <a:t>Current trend: end-to-end, event-driven workflows combining RPA, APIs, and GenAI services</a:t>
            </a:r>
          </a:p>
        </p:txBody>
      </p:sp>
    </p:spTree>
    <p:extLst>
      <p:ext uri="{BB962C8B-B14F-4D97-AF65-F5344CB8AC3E}">
        <p14:creationId xmlns:p14="http://schemas.microsoft.com/office/powerpoint/2010/main" val="404853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08C4-7281-8569-9441-3921C8BB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Trending 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8220-AEBC-5158-0E2F-F5678A948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RPA Platforms: UiPath, Automation Anywhere, Blue Prism, Microsoft Power Automate</a:t>
            </a:r>
          </a:p>
          <a:p>
            <a:r>
              <a:rPr lang="en-US"/>
              <a:t>LLM Providers: OpenAI, Anthropic, Google Gemini, Meta Llama, open-source models (e.g., Mistral)</a:t>
            </a:r>
          </a:p>
          <a:p>
            <a:r>
              <a:rPr lang="en-US"/>
              <a:t>Integration Stack: REST APIs, webhooks, message queues, iPaaS, and event buses</a:t>
            </a:r>
          </a:p>
          <a:p>
            <a:r>
              <a:rPr lang="en-US"/>
              <a:t>AI Add-ons: document AI, OCR, vector databases, RAG frameworks, prompt orchestration tools</a:t>
            </a:r>
          </a:p>
          <a:p>
            <a:r>
              <a:rPr lang="en-US"/>
              <a:t>Governance: model monitoring, prompt logging, policy engines, and responsible AI frameworks</a:t>
            </a:r>
          </a:p>
        </p:txBody>
      </p:sp>
    </p:spTree>
    <p:extLst>
      <p:ext uri="{BB962C8B-B14F-4D97-AF65-F5344CB8AC3E}">
        <p14:creationId xmlns:p14="http://schemas.microsoft.com/office/powerpoint/2010/main" val="2185132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6D4E-403D-B4C4-A717-79BDE7378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E5C1-8518-2398-AD45-7DDA08B1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Enterprises seek cost reduction and resilience through hyperautomation initiatives</a:t>
            </a:r>
          </a:p>
          <a:p>
            <a:r>
              <a:rPr lang="en-US"/>
              <a:t>High demand in BFSI, healthcare, telecom, retail, and public sector operations</a:t>
            </a:r>
          </a:p>
          <a:p>
            <a:r>
              <a:rPr lang="en-US"/>
              <a:t>Roles growing: Automation Architect, AI Engineer, Prompt Engineer, Citizen Developer</a:t>
            </a:r>
          </a:p>
          <a:p>
            <a:r>
              <a:rPr lang="en-US"/>
              <a:t>Vendors embedding LLMs directly into RPA suites to offer out-of-the-box AI skills</a:t>
            </a:r>
          </a:p>
          <a:p>
            <a:r>
              <a:rPr lang="en-US"/>
              <a:t>Organizations prioritize ROI, time-to-value, and compliance when adopting intelligent automation</a:t>
            </a:r>
          </a:p>
        </p:txBody>
      </p:sp>
    </p:spTree>
    <p:extLst>
      <p:ext uri="{BB962C8B-B14F-4D97-AF65-F5344CB8AC3E}">
        <p14:creationId xmlns:p14="http://schemas.microsoft.com/office/powerpoint/2010/main" val="1924924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43B2-68AE-81C2-C60D-1D64E5BE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1: Intelligent Invoice Processing (Finance)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7D5D-1476-1A20-3DF1-5ACAE0DE9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Problem: Manual invoice entry from varied formats causing delays and errors</a:t>
            </a:r>
          </a:p>
          <a:p>
            <a:r>
              <a:rPr lang="en-US"/>
              <a:t>Solution: RPA bots orchestrate workflow; LLM-based document AI extracts and validates fields</a:t>
            </a:r>
          </a:p>
          <a:p>
            <a:r>
              <a:rPr lang="en-US"/>
              <a:t>LLM handles unstructured descriptions, vendor notes, and exception explanations</a:t>
            </a:r>
          </a:p>
          <a:p>
            <a:r>
              <a:rPr lang="en-US"/>
              <a:t>Outcome: 70–85% reduction in manual effort, faster approvals, improved data quality</a:t>
            </a:r>
          </a:p>
          <a:p>
            <a:r>
              <a:rPr lang="en-US"/>
              <a:t>Key lesson: Combine RPA for deterministic steps with LLMs for interpretation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3113892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0CD8-BBC6-5EE6-3E4C-88ACC1EE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2: AI-Augmented Customer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D97F7-E567-F1D9-3BC4-83C33FE42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Problem: High volume of repetitive customer queries across email and chat channels</a:t>
            </a:r>
          </a:p>
          <a:p>
            <a:r>
              <a:rPr lang="en-US"/>
              <a:t>Solution: LLM summarizes and classifies incoming messages; RPA updates CRM and ticketing tools</a:t>
            </a:r>
          </a:p>
          <a:p>
            <a:r>
              <a:rPr lang="en-US"/>
              <a:t>GenAI drafts responses; human agents review high-risk cases while bots send low-risk replies</a:t>
            </a:r>
          </a:p>
          <a:p>
            <a:r>
              <a:rPr lang="en-US"/>
              <a:t>Outcome: Reduced average handling time, higher first-contact resolution, better agent experience</a:t>
            </a:r>
          </a:p>
          <a:p>
            <a:r>
              <a:rPr lang="en-US"/>
              <a:t>Key lesson: Human-in-the-loop review and clear escalation rules are critical for trust</a:t>
            </a:r>
          </a:p>
        </p:txBody>
      </p:sp>
    </p:spTree>
    <p:extLst>
      <p:ext uri="{BB962C8B-B14F-4D97-AF65-F5344CB8AC3E}">
        <p14:creationId xmlns:p14="http://schemas.microsoft.com/office/powerpoint/2010/main" val="1086599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4F9E-8229-47D1-6C98-43762452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3: Operations Knowledge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BEA9D-2862-2EA6-2CDC-2A73D7FF2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Problem: Field and operations teams struggle to find up-to-date SOPs and system procedures</a:t>
            </a:r>
          </a:p>
          <a:p>
            <a:r>
              <a:rPr lang="en-US"/>
              <a:t>Solution: LLM-based assistant retrieves and summarizes knowledge; RPA executes approved actions</a:t>
            </a:r>
          </a:p>
          <a:p>
            <a:r>
              <a:rPr lang="en-US"/>
              <a:t>Users ask natural-language questions; assistant triggers bots for status checks and updates</a:t>
            </a:r>
          </a:p>
          <a:p>
            <a:r>
              <a:rPr lang="en-US"/>
              <a:t>Outcome: Faster issue resolution, fewer errors, and reduced dependency on niche experts</a:t>
            </a:r>
          </a:p>
          <a:p>
            <a:r>
              <a:rPr lang="en-US"/>
              <a:t>Key lesson: Pair conversational LLM interfaces with secure, governed RPA execution layers</a:t>
            </a:r>
          </a:p>
        </p:txBody>
      </p:sp>
    </p:spTree>
    <p:extLst>
      <p:ext uri="{BB962C8B-B14F-4D97-AF65-F5344CB8AC3E}">
        <p14:creationId xmlns:p14="http://schemas.microsoft.com/office/powerpoint/2010/main" val="2661104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6FC0-12C8-EADA-2937-580CF8872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D802D-95F9-DE34-DD10-2E43798E5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Intelligent Automation: Combining RPA with Generative AI and LLMs</a:t>
            </a:r>
          </a:p>
          <a:p>
            <a:r>
              <a:rPr lang="en-US"/>
              <a:t>Professional Workshop for Technology and Business Practitioners</a:t>
            </a:r>
          </a:p>
          <a:p>
            <a:r>
              <a:rPr lang="en-US"/>
              <a:t>Focus: From Rule-Based Bots to Cognitive, Self-Improving Workflows</a:t>
            </a:r>
          </a:p>
          <a:p>
            <a:r>
              <a:rPr lang="en-US"/>
              <a:t>Audience: Architects, Developers, Automation CoE, Product Owners</a:t>
            </a:r>
          </a:p>
        </p:txBody>
      </p:sp>
    </p:spTree>
    <p:extLst>
      <p:ext uri="{BB962C8B-B14F-4D97-AF65-F5344CB8AC3E}">
        <p14:creationId xmlns:p14="http://schemas.microsoft.com/office/powerpoint/2010/main" val="679913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A141-8205-F67E-DC6E-DFF8E341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EB753-FA6B-175A-393F-B69D305A0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Foundations of RPA and Generative AI / LLMs</a:t>
            </a:r>
          </a:p>
          <a:p>
            <a:r>
              <a:rPr lang="en-US"/>
              <a:t>How Intelligent Automation Has Evolved</a:t>
            </a:r>
          </a:p>
          <a:p>
            <a:r>
              <a:rPr lang="en-US"/>
              <a:t>Key Tools, Platforms, and Architectural Patterns</a:t>
            </a:r>
          </a:p>
          <a:p>
            <a:r>
              <a:rPr lang="en-US"/>
              <a:t>Market Demand, Roles, and Skills Landscape</a:t>
            </a:r>
          </a:p>
          <a:p>
            <a:r>
              <a:rPr lang="en-US"/>
              <a:t>Real-World Case Studies and Implementation Lessons</a:t>
            </a:r>
          </a:p>
        </p:txBody>
      </p:sp>
    </p:spTree>
    <p:extLst>
      <p:ext uri="{BB962C8B-B14F-4D97-AF65-F5344CB8AC3E}">
        <p14:creationId xmlns:p14="http://schemas.microsoft.com/office/powerpoint/2010/main" val="1871107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0895-7880-6DAD-E1D9-E5099D09A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Domain 1: Robotic Process Automation (RPA)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363E-B064-8C0C-4118-FD7754D98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RPA automates repetitive, rule-based tasks by mimicking human actions on UIs and APIs</a:t>
            </a:r>
          </a:p>
          <a:p>
            <a:r>
              <a:rPr lang="en-US"/>
              <a:t>Best suited for high-volume, stable processes with clear decision rules</a:t>
            </a:r>
          </a:p>
          <a:p>
            <a:r>
              <a:rPr lang="en-US"/>
              <a:t>Core capabilities: screen scraping, workflow orchestration, integration with enterprise apps</a:t>
            </a:r>
          </a:p>
          <a:p>
            <a:r>
              <a:rPr lang="en-US"/>
              <a:t>Benefits: reduced manual effort, fewer errors, improved compliance and auditability</a:t>
            </a:r>
          </a:p>
          <a:p>
            <a:r>
              <a:rPr lang="en-US"/>
              <a:t>Limitations: struggles with unstructured data, ambiguity, and frequent process changes</a:t>
            </a:r>
          </a:p>
        </p:txBody>
      </p:sp>
    </p:spTree>
    <p:extLst>
      <p:ext uri="{BB962C8B-B14F-4D97-AF65-F5344CB8AC3E}">
        <p14:creationId xmlns:p14="http://schemas.microsoft.com/office/powerpoint/2010/main" val="2703270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1F08-2C5E-96C3-F9C2-2995AD4B3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Domain 2: Generative AI and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4E72-BCEC-D3BB-48DD-A9E872F88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Generative AI creates new content (text, code, images) from learned patterns in data</a:t>
            </a:r>
          </a:p>
          <a:p>
            <a:r>
              <a:rPr lang="en-US"/>
              <a:t>Large Language Models (LLMs) understand and generate natural language at scale</a:t>
            </a:r>
          </a:p>
          <a:p>
            <a:r>
              <a:rPr lang="en-US"/>
              <a:t>Strengths: handling unstructured data, reasoning over text, conversational interfaces</a:t>
            </a:r>
          </a:p>
          <a:p>
            <a:r>
              <a:rPr lang="en-US"/>
              <a:t>Key capabilities: summarization, classification, extraction, code generation, Q&amp;A</a:t>
            </a:r>
          </a:p>
          <a:p>
            <a:r>
              <a:rPr lang="en-US"/>
              <a:t>Challenges: hallucinations, data privacy, latency, and need for guardrails</a:t>
            </a:r>
          </a:p>
        </p:txBody>
      </p:sp>
    </p:spTree>
    <p:extLst>
      <p:ext uri="{BB962C8B-B14F-4D97-AF65-F5344CB8AC3E}">
        <p14:creationId xmlns:p14="http://schemas.microsoft.com/office/powerpoint/2010/main" val="1709750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31BA-EF6C-9FCE-0D44-6D07DAAB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1A24-027B-02C8-7085-AE8814EA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Phase 1: Scripted macros and basic screen-scraping bots for task automation</a:t>
            </a:r>
          </a:p>
          <a:p>
            <a:r>
              <a:rPr lang="en-US"/>
              <a:t>Phase 2: Enterprise RPA platforms with orchestrators, queues, and governance</a:t>
            </a:r>
          </a:p>
          <a:p>
            <a:r>
              <a:rPr lang="en-US"/>
              <a:t>Phase 3: Intelligent Automation by adding OCR, ML models, and decision engines</a:t>
            </a:r>
          </a:p>
          <a:p>
            <a:r>
              <a:rPr lang="en-US"/>
              <a:t>Phase 4: LLM-powered bots that understand documents, emails, and conversations</a:t>
            </a:r>
          </a:p>
          <a:p>
            <a:r>
              <a:rPr lang="en-US"/>
              <a:t>Current trend: end-to-end autonomous workflows combining RPA, APIs, and LLM agents</a:t>
            </a:r>
          </a:p>
        </p:txBody>
      </p:sp>
    </p:spTree>
    <p:extLst>
      <p:ext uri="{BB962C8B-B14F-4D97-AF65-F5344CB8AC3E}">
        <p14:creationId xmlns:p14="http://schemas.microsoft.com/office/powerpoint/2010/main" val="777854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B9EC-AE57-96C2-34DB-B22AA68F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Trending 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5C06-C3C9-40D1-D8A3-EE0A8CBF3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RPA platforms: UiPath, Automation Anywhere, Blue Prism, Power Automate</a:t>
            </a:r>
          </a:p>
          <a:p>
            <a:r>
              <a:rPr lang="en-US"/>
              <a:t>LLM providers: OpenAI, Anthropic, Google Gemini, Azure OpenAI, open-source LLMs</a:t>
            </a:r>
          </a:p>
          <a:p>
            <a:r>
              <a:rPr lang="en-US"/>
              <a:t>Orchestration: workflow engines, API gateways, event buses, and agent frameworks</a:t>
            </a:r>
          </a:p>
          <a:p>
            <a:r>
              <a:rPr lang="en-US"/>
              <a:t>Enablers: vector databases, prompt engineering, retrieval-augmented generation (RAG)</a:t>
            </a:r>
          </a:p>
          <a:p>
            <a:r>
              <a:rPr lang="en-US"/>
              <a:t>Enterprise concerns: security, observability, model monitoring, and governance layers</a:t>
            </a:r>
          </a:p>
        </p:txBody>
      </p:sp>
    </p:spTree>
    <p:extLst>
      <p:ext uri="{BB962C8B-B14F-4D97-AF65-F5344CB8AC3E}">
        <p14:creationId xmlns:p14="http://schemas.microsoft.com/office/powerpoint/2010/main" val="585794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E90F-C12E-4FAD-20A8-4DC19354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20020-FF4F-EAC4-F315-DCE3A21A9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Organizations seek cost reduction and resilience through hyperautomation</a:t>
            </a:r>
          </a:p>
          <a:p>
            <a:r>
              <a:rPr lang="en-US"/>
              <a:t>High demand for roles: automation architects, RPA/AI engineers, prompt engineers</a:t>
            </a:r>
          </a:p>
          <a:p>
            <a:r>
              <a:rPr lang="en-US"/>
              <a:t>Industries leading adoption: banking, insurance, healthcare, retail, manufacturing</a:t>
            </a:r>
          </a:p>
          <a:p>
            <a:r>
              <a:rPr lang="en-US"/>
              <a:t>Vendors and consultancies building Intelligent Automation Centers of Excellence</a:t>
            </a:r>
          </a:p>
          <a:p>
            <a:r>
              <a:rPr lang="en-US"/>
              <a:t>Skills in integrating RPA with LLMs increasingly valued over single-technology expertise</a:t>
            </a:r>
          </a:p>
        </p:txBody>
      </p:sp>
    </p:spTree>
    <p:extLst>
      <p:ext uri="{BB962C8B-B14F-4D97-AF65-F5344CB8AC3E}">
        <p14:creationId xmlns:p14="http://schemas.microsoft.com/office/powerpoint/2010/main" val="3754586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8361-BA9A-9ECE-AC29-9FFF6F430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75A23-DF32-9955-63FC-C6B09DB83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Scenario: Financial services firm automating loan application processing</a:t>
            </a:r>
          </a:p>
          <a:p>
            <a:r>
              <a:rPr lang="en-US"/>
              <a:t>RPA bots collect data from portals, core banking, and credit bureaus</a:t>
            </a:r>
          </a:p>
          <a:p>
            <a:r>
              <a:rPr lang="en-US"/>
              <a:t>LLM summarizes applicant documents and extracts key risk indicators</a:t>
            </a:r>
          </a:p>
          <a:p>
            <a:r>
              <a:rPr lang="en-US"/>
              <a:t>Outcome: 60–70% reduction in manual review time and faster approvals</a:t>
            </a:r>
          </a:p>
          <a:p>
            <a:r>
              <a:rPr lang="en-US"/>
              <a:t>Key lesson: clear guardrails and human-in-the-loop checks are essential</a:t>
            </a:r>
          </a:p>
        </p:txBody>
      </p:sp>
    </p:spTree>
    <p:extLst>
      <p:ext uri="{BB962C8B-B14F-4D97-AF65-F5344CB8AC3E}">
        <p14:creationId xmlns:p14="http://schemas.microsoft.com/office/powerpoint/2010/main" val="2380564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2312-5665-71A4-9556-956007E81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8376C-6811-CAF0-FEFE-B385AEBD2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Scenario: Global retailer enhancing customer service operations</a:t>
            </a:r>
          </a:p>
          <a:p>
            <a:r>
              <a:rPr lang="en-US"/>
              <a:t>RPA integrates ticketing, CRM, and order management systems end-to-end</a:t>
            </a:r>
          </a:p>
          <a:p>
            <a:r>
              <a:rPr lang="en-US"/>
              <a:t>LLM-powered assistant drafts responses and suggests resolutions to agents</a:t>
            </a:r>
          </a:p>
          <a:p>
            <a:r>
              <a:rPr lang="en-US"/>
              <a:t>Outcome: improved first-contact resolution and reduced average handling time</a:t>
            </a:r>
          </a:p>
          <a:p>
            <a:r>
              <a:rPr lang="en-US"/>
              <a:t>Key lesson: continuous feedback from agents improves prompts and model behavior</a:t>
            </a:r>
          </a:p>
        </p:txBody>
      </p:sp>
    </p:spTree>
    <p:extLst>
      <p:ext uri="{BB962C8B-B14F-4D97-AF65-F5344CB8AC3E}">
        <p14:creationId xmlns:p14="http://schemas.microsoft.com/office/powerpoint/2010/main" val="641135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98FF-344C-2911-8A5E-3A95239BB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5A4B9-0782-F6A7-B855-92175CAD2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Scenario: Healthcare provider automating clinical documentation workflows</a:t>
            </a:r>
          </a:p>
          <a:p>
            <a:r>
              <a:rPr lang="en-US"/>
              <a:t>RPA retrieves patient data from EHR systems and schedules follow-up tasks</a:t>
            </a:r>
          </a:p>
          <a:p>
            <a:r>
              <a:rPr lang="en-US"/>
              <a:t>LLM generates visit summaries and structured notes from clinician dictation</a:t>
            </a:r>
          </a:p>
          <a:p>
            <a:r>
              <a:rPr lang="en-US"/>
              <a:t>Outcome: significant reduction in after-hours documentation for clinicians</a:t>
            </a:r>
          </a:p>
          <a:p>
            <a:r>
              <a:rPr lang="en-US"/>
              <a:t>Key lesson: strict compliance, PHI protection, and model audit trails are critical</a:t>
            </a:r>
          </a:p>
        </p:txBody>
      </p:sp>
    </p:spTree>
    <p:extLst>
      <p:ext uri="{BB962C8B-B14F-4D97-AF65-F5344CB8AC3E}">
        <p14:creationId xmlns:p14="http://schemas.microsoft.com/office/powerpoint/2010/main" val="2540905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</Words>
  <Application>Microsoft Office PowerPoint</Application>
  <PresentationFormat>Widescreen</PresentationFormat>
  <Paragraphs>119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Title Slide</vt:lpstr>
      <vt:lpstr>Outline</vt:lpstr>
      <vt:lpstr>Introduction – Domain 1: Robotic Process Automation (RPA)</vt:lpstr>
      <vt:lpstr>Introduction – Domain 2: Generative AI and LLMs</vt:lpstr>
      <vt:lpstr>Evolution</vt:lpstr>
      <vt:lpstr>Trending Tools and Technologies</vt:lpstr>
      <vt:lpstr>Market Demand</vt:lpstr>
      <vt:lpstr>Case Study 1: Intelligent Invoice Processing (Finance)</vt:lpstr>
      <vt:lpstr>Case Study 2: AI-Augmented Customer Support</vt:lpstr>
      <vt:lpstr>Case Study 3: Operations Knowledge Assistant</vt:lpstr>
      <vt:lpstr>Title Slide</vt:lpstr>
      <vt:lpstr>Outline</vt:lpstr>
      <vt:lpstr>Introduction – Domain 1: Robotic Process Automation (RPA)</vt:lpstr>
      <vt:lpstr>Introduction – Domain 2: Generative AI and LLMs</vt:lpstr>
      <vt:lpstr>Evolution</vt:lpstr>
      <vt:lpstr>Trending Tools and Technologies</vt:lpstr>
      <vt:lpstr>Market Demand</vt:lpstr>
      <vt:lpstr>Case Study 1</vt:lpstr>
      <vt:lpstr>Case Study 2</vt:lpstr>
      <vt:lpstr>Case Study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Azhar</dc:creator>
  <cp:lastModifiedBy>Muhammad Azhar</cp:lastModifiedBy>
  <cp:revision>61</cp:revision>
  <dcterms:created xsi:type="dcterms:W3CDTF">2026-03-11T12:05:36Z</dcterms:created>
  <dcterms:modified xsi:type="dcterms:W3CDTF">2026-03-13T21:13:12Z</dcterms:modified>
</cp:coreProperties>
</file>